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image" Target="../media/image19.png"/><Relationship Id="rId14" Type="http://schemas.openxmlformats.org/officeDocument/2006/relationships/image" Target="../media/image2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image" Target="../media/image32.png"/><Relationship Id="rId12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952500"/>
            <a:ext cx="4381500" cy="4953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2125" y="2825948"/>
            <a:ext cx="5857875" cy="2609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2125" y="2330648"/>
            <a:ext cx="2446139" cy="285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9640" y="2240309"/>
            <a:ext cx="3566070" cy="23773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72125" y="1422201"/>
            <a:ext cx="6150768" cy="8322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77"/>
              </a:lnSpc>
            </a:pPr>
            <a:r>
              <a:rPr b="0" sz="2850" i="0" u="none">
                <a:solidFill>
                  <a:srgbClr val="090E17"/>
                </a:solidFill>
                <a:latin typeface="Poppins ExtraBold"/>
              </a:rPr>
              <a:t>SMART INDIA HACKATHON </a:t>
            </a:r>
            <a:r>
              <a:rPr b="0" sz="2850" i="0" u="none">
                <a:solidFill>
                  <a:srgbClr val="EA580C"/>
                </a:solidFill>
                <a:latin typeface="Poppins ExtraBold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0725" y="2945010"/>
            <a:ext cx="540067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90E17"/>
                </a:solidFill>
                <a:latin typeface="Inter ExtraBold"/>
              </a:rPr>
              <a:t>Problem Statement ID</a:t>
            </a:r>
            <a:r>
              <a:rPr b="0" sz="1200" i="0" u="none">
                <a:solidFill>
                  <a:srgbClr val="000000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1E293B"/>
                </a:solidFill>
                <a:latin typeface="Inter SemiBold"/>
              </a:rPr>
              <a:t>SIH26045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1175" y="3245048"/>
            <a:ext cx="58197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0725" y="3354585"/>
            <a:ext cx="5400675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90E17"/>
                </a:solidFill>
                <a:latin typeface="Inter ExtraBold"/>
              </a:rPr>
              <a:t>Problem Statement Title</a:t>
            </a:r>
            <a:r>
              <a:rPr b="0" sz="1200" i="0" u="none">
                <a:solidFill>
                  <a:srgbClr val="000000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1E293B"/>
                </a:solidFill>
                <a:latin typeface="Inter SemiBold"/>
              </a:rPr>
              <a:t>IP-SAKTI (Multilingual RAG-Based Ayurveda IPR Assistant)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91175" y="3778448"/>
            <a:ext cx="58197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0725" y="3887985"/>
            <a:ext cx="540067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90E17"/>
                </a:solidFill>
                <a:latin typeface="Inter ExtraBold"/>
              </a:rPr>
              <a:t>Theme</a:t>
            </a:r>
            <a:r>
              <a:rPr b="0" sz="1200" i="0" u="none">
                <a:solidFill>
                  <a:srgbClr val="000000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1E293B"/>
                </a:solidFill>
                <a:latin typeface="Inter SemiBold"/>
              </a:rPr>
              <a:t>Healthcare &amp; Traditional Knowledge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91175" y="4188023"/>
            <a:ext cx="58197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0725" y="4297560"/>
            <a:ext cx="540067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90E17"/>
                </a:solidFill>
                <a:latin typeface="Inter ExtraBold"/>
              </a:rPr>
              <a:t>PS Category</a:t>
            </a:r>
            <a:r>
              <a:rPr b="0" sz="1200" i="0" u="none">
                <a:solidFill>
                  <a:srgbClr val="000000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1E293B"/>
                </a:solidFill>
                <a:latin typeface="Inter SemiBold"/>
              </a:rPr>
              <a:t>Software Category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91175" y="4597598"/>
            <a:ext cx="58197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00725" y="4707135"/>
            <a:ext cx="540067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90E17"/>
                </a:solidFill>
                <a:latin typeface="Inter ExtraBold"/>
              </a:rPr>
              <a:t>Team ID</a:t>
            </a:r>
            <a:r>
              <a:rPr b="0" sz="1200" i="0" u="none">
                <a:solidFill>
                  <a:srgbClr val="000000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1E293B"/>
                </a:solidFill>
                <a:latin typeface="Inter SemiBold"/>
              </a:rPr>
              <a:t>[Insert Team ID]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91175" y="5007173"/>
            <a:ext cx="58197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0725" y="5116710"/>
            <a:ext cx="54006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90E17"/>
                </a:solidFill>
                <a:latin typeface="Inter ExtraBold"/>
              </a:rPr>
              <a:t>Team Name</a:t>
            </a:r>
            <a:r>
              <a:rPr b="0" sz="1200" i="0" u="none">
                <a:solidFill>
                  <a:srgbClr val="000000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EA580C"/>
                </a:solidFill>
                <a:latin typeface="Inter ExtraBold"/>
              </a:rPr>
              <a:t>VedaVanguard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6950" y="190500"/>
            <a:ext cx="1828800" cy="314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5576" y="1613445"/>
            <a:ext cx="4432399" cy="4619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723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496050"/>
            <a:ext cx="12192000" cy="361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250" y="6605587"/>
            <a:ext cx="20002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Inter SemiBold"/>
              </a:rPr>
              <a:t>@SIH Idea submission -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2687" y="6605587"/>
            <a:ext cx="419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EA580C"/>
                </a:solidFill>
                <a:latin typeface="Inter ExtraBold"/>
              </a:rPr>
              <a:t>Slide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7975" y="6605587"/>
            <a:ext cx="12477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Inter SemiBold"/>
              </a:rPr>
              <a:t>Team: VedaVanguard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90487"/>
            <a:ext cx="771525" cy="514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00175" y="185737"/>
            <a:ext cx="3619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725" i="0" u="none">
                <a:solidFill>
                  <a:srgbClr val="0F172A"/>
                </a:solidFill>
                <a:latin typeface="Poppins ExtraBold"/>
              </a:rPr>
              <a:t>SMART INDIA HACKATHON </a:t>
            </a:r>
            <a:r>
              <a:rPr b="0" sz="1725" i="0" u="none">
                <a:solidFill>
                  <a:srgbClr val="EA580C"/>
                </a:solidFill>
                <a:latin typeface="Poppins ExtraBold"/>
              </a:rPr>
              <a:t>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" y="1889075"/>
            <a:ext cx="6378326" cy="924222"/>
          </a:xfrm>
          <a:prstGeom prst="roundRect">
            <a:avLst>
              <a:gd name="adj" fmla="val 8244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5325" y="2003375"/>
            <a:ext cx="6035426" cy="6956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90E17"/>
                </a:solidFill>
                <a:latin typeface="Inter ExtraBold"/>
              </a:rPr>
              <a:t>Proposed Solution</a:t>
            </a:r>
            <a:r>
              <a:rPr b="0" sz="1200" i="0" u="none">
                <a:solidFill>
                  <a:srgbClr val="000000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1E293B"/>
                </a:solidFill>
                <a:latin typeface="Inter Medium"/>
              </a:rPr>
              <a:t>A multilingual RAG-powered AYUSH IPR assistant acting as a </a:t>
            </a:r>
            <a:r>
              <a:rPr b="1" sz="1200" i="0" u="none">
                <a:solidFill>
                  <a:srgbClr val="090E17"/>
                </a:solidFill>
                <a:latin typeface="Inter"/>
              </a:rPr>
              <a:t>digital shield against biopiracy</a:t>
            </a:r>
            <a:r>
              <a:rPr b="0" sz="1200" i="0" u="none">
                <a:solidFill>
                  <a:srgbClr val="1E293B"/>
                </a:solidFill>
                <a:latin typeface="Inter Medium"/>
              </a:rPr>
              <a:t> and an intelligent compliance automation platform.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3875" y="2803773"/>
            <a:ext cx="6378326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3875" y="1889075"/>
            <a:ext cx="6378326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3875" y="1889075"/>
            <a:ext cx="47625" cy="92422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92676" y="1889075"/>
            <a:ext cx="9525" cy="92422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3875" y="2937123"/>
            <a:ext cx="6378326" cy="924222"/>
          </a:xfrm>
          <a:prstGeom prst="roundRect">
            <a:avLst>
              <a:gd name="adj" fmla="val 8244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5325" y="3051423"/>
            <a:ext cx="6035426" cy="6956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90E17"/>
                </a:solidFill>
                <a:latin typeface="Inter ExtraBold"/>
              </a:rPr>
              <a:t>Detailed Explanation</a:t>
            </a:r>
            <a:r>
              <a:rPr b="0" sz="1200" i="0" u="none">
                <a:solidFill>
                  <a:srgbClr val="000000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1E293B"/>
                </a:solidFill>
                <a:latin typeface="Inter Medium"/>
              </a:rPr>
              <a:t>Voice/text I/O in </a:t>
            </a:r>
            <a:r>
              <a:rPr b="1" sz="1200" i="0" u="none">
                <a:solidFill>
                  <a:srgbClr val="090E17"/>
                </a:solidFill>
                <a:latin typeface="Inter"/>
              </a:rPr>
              <a:t>9 Indian languages</a:t>
            </a:r>
            <a:r>
              <a:rPr b="0" sz="1200" i="0" u="none">
                <a:solidFill>
                  <a:srgbClr val="1E293B"/>
                </a:solidFill>
                <a:latin typeface="Inter Medium"/>
              </a:rPr>
              <a:t>, 4-step Formulation Classifier (Classical, Proprietary, Phytopharma, Cosmetics), and step-by-step ABS Engine (PIC → MAT → NBA).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3875" y="3851820"/>
            <a:ext cx="6378326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3875" y="2937123"/>
            <a:ext cx="6378326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3875" y="2937123"/>
            <a:ext cx="47625" cy="92422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92676" y="2937123"/>
            <a:ext cx="9525" cy="92422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23875" y="3985170"/>
            <a:ext cx="6378326" cy="924222"/>
          </a:xfrm>
          <a:prstGeom prst="roundRect">
            <a:avLst>
              <a:gd name="adj" fmla="val 8244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5325" y="4099470"/>
            <a:ext cx="6035426" cy="6956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90E17"/>
                </a:solidFill>
                <a:latin typeface="Inter ExtraBold"/>
              </a:rPr>
              <a:t>Addressing the Problem</a:t>
            </a:r>
            <a:r>
              <a:rPr b="0" sz="1200" i="0" u="none">
                <a:solidFill>
                  <a:srgbClr val="000000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1E293B"/>
                </a:solidFill>
                <a:latin typeface="Inter Medium"/>
              </a:rPr>
              <a:t>Mitigates </a:t>
            </a:r>
            <a:r>
              <a:rPr b="1" sz="1200" i="0" u="none">
                <a:solidFill>
                  <a:srgbClr val="090E17"/>
                </a:solidFill>
                <a:latin typeface="Inter"/>
              </a:rPr>
              <a:t>2,000+ biopiracy risks</a:t>
            </a:r>
            <a:r>
              <a:rPr b="0" sz="1200" i="0" u="none">
                <a:solidFill>
                  <a:srgbClr val="1E293B"/>
                </a:solidFill>
                <a:latin typeface="Inter Medium"/>
              </a:rPr>
              <a:t>, navigates overlapping legal regimes (Patents Act Sec 3(p), BDA 2002, TKDL, TRIPS), and removes language barriers for </a:t>
            </a:r>
            <a:r>
              <a:rPr b="1" sz="1200" i="0" u="none">
                <a:solidFill>
                  <a:srgbClr val="090E17"/>
                </a:solidFill>
                <a:latin typeface="Inter"/>
              </a:rPr>
              <a:t>50K+ AYUSH MSMEs</a:t>
            </a:r>
            <a:r>
              <a:rPr b="0" sz="1200" i="0" u="none">
                <a:solidFill>
                  <a:srgbClr val="1E293B"/>
                </a:solidFill>
                <a:latin typeface="Inter Medium"/>
              </a:rPr>
              <a:t>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3875" y="4899868"/>
            <a:ext cx="6378326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23875" y="3985170"/>
            <a:ext cx="6378326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3875" y="3985170"/>
            <a:ext cx="47625" cy="92422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92676" y="3985170"/>
            <a:ext cx="9525" cy="92422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23875" y="5033218"/>
            <a:ext cx="6378326" cy="924222"/>
          </a:xfrm>
          <a:prstGeom prst="roundRect">
            <a:avLst>
              <a:gd name="adj" fmla="val 8244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5325" y="5147518"/>
            <a:ext cx="6035426" cy="6956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90E17"/>
                </a:solidFill>
                <a:latin typeface="Inter ExtraBold"/>
              </a:rPr>
              <a:t>Innovation &amp; Uniqueness</a:t>
            </a:r>
            <a:r>
              <a:rPr b="0" sz="1200" i="0" u="none">
                <a:solidFill>
                  <a:srgbClr val="000000"/>
                </a:solidFill>
                <a:latin typeface="Inter"/>
              </a:rPr>
              <a:t> </a:t>
            </a:r>
            <a:r>
              <a:rPr b="1" sz="1200" i="0" u="none">
                <a:solidFill>
                  <a:srgbClr val="090E17"/>
                </a:solidFill>
                <a:latin typeface="Inter"/>
              </a:rPr>
              <a:t>Strict Jurisdiction Isolation</a:t>
            </a:r>
            <a:r>
              <a:rPr b="0" sz="1200" i="0" u="none">
                <a:solidFill>
                  <a:srgbClr val="1E293B"/>
                </a:solidFill>
                <a:latin typeface="Inter Medium"/>
              </a:rPr>
              <a:t> preventing domestic vs. international legal conflation, verifiable statutory citations, and direct expert escalation to legal registries.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3875" y="5947916"/>
            <a:ext cx="6378326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3875" y="5033218"/>
            <a:ext cx="6378326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3875" y="5033218"/>
            <a:ext cx="47625" cy="92422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92676" y="5033218"/>
            <a:ext cx="9525" cy="92422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40351" y="1718220"/>
            <a:ext cx="4222849" cy="4410075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523875" y="2803773"/>
            <a:ext cx="6378326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23875" y="3851820"/>
            <a:ext cx="6378326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23875" y="4899868"/>
            <a:ext cx="6378326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23875" y="5947916"/>
            <a:ext cx="6378326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7225" y="904875"/>
            <a:ext cx="11534775" cy="350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b="0" sz="2400" i="0" u="none">
                <a:solidFill>
                  <a:srgbClr val="090E17"/>
                </a:solidFill>
                <a:latin typeface="Poppins ExtraBold"/>
              </a:rPr>
              <a:t>IDEA TITLE: IP-SAKTI Assistant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3875" y="904875"/>
            <a:ext cx="57150" cy="35049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962400" y="345281"/>
            <a:ext cx="4267200" cy="33337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6950" y="190500"/>
            <a:ext cx="1828800" cy="314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5576" y="1613445"/>
            <a:ext cx="4432399" cy="4619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723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496050"/>
            <a:ext cx="12192000" cy="361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250" y="6605587"/>
            <a:ext cx="20002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Inter SemiBold"/>
              </a:rPr>
              <a:t>@SIH Idea submission -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2687" y="6605587"/>
            <a:ext cx="419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EA580C"/>
                </a:solidFill>
                <a:latin typeface="Inter ExtraBold"/>
              </a:rPr>
              <a:t>Slide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7975" y="6605587"/>
            <a:ext cx="12477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Inter SemiBold"/>
              </a:rPr>
              <a:t>Team: VedaVanguard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90487"/>
            <a:ext cx="771525" cy="514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00175" y="185737"/>
            <a:ext cx="3619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725" i="0" u="none">
                <a:solidFill>
                  <a:srgbClr val="0F172A"/>
                </a:solidFill>
                <a:latin typeface="Poppins ExtraBold"/>
              </a:rPr>
              <a:t>SMART INDIA HACKATHON </a:t>
            </a:r>
            <a:r>
              <a:rPr b="0" sz="1725" i="0" u="none">
                <a:solidFill>
                  <a:srgbClr val="EA580C"/>
                </a:solidFill>
                <a:latin typeface="Poppins ExtraBold"/>
              </a:rPr>
              <a:t>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" y="1889075"/>
            <a:ext cx="6378326" cy="924222"/>
          </a:xfrm>
          <a:prstGeom prst="roundRect">
            <a:avLst>
              <a:gd name="adj" fmla="val 8244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5325" y="2003375"/>
            <a:ext cx="6035426" cy="6956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90E17"/>
                </a:solidFill>
                <a:latin typeface="Inter ExtraBold"/>
              </a:rPr>
              <a:t>Technologies Used</a:t>
            </a:r>
            <a:r>
              <a:rPr b="0" sz="1200" i="0" u="none">
                <a:solidFill>
                  <a:srgbClr val="000000"/>
                </a:solidFill>
                <a:latin typeface="Inter"/>
              </a:rPr>
              <a:t> </a:t>
            </a:r>
            <a:r>
              <a:rPr b="1" sz="1200" i="0" u="none">
                <a:solidFill>
                  <a:srgbClr val="090E17"/>
                </a:solidFill>
                <a:latin typeface="Inter"/>
              </a:rPr>
              <a:t>Bhashini Multilingual API &amp; Groq Whisper</a:t>
            </a:r>
            <a:r>
              <a:rPr b="0" sz="1200" i="0" u="none">
                <a:solidFill>
                  <a:srgbClr val="1E293B"/>
                </a:solidFill>
                <a:latin typeface="Inter Medium"/>
              </a:rPr>
              <a:t> (Speech), </a:t>
            </a:r>
            <a:r>
              <a:rPr b="1" sz="1200" i="0" u="none">
                <a:solidFill>
                  <a:srgbClr val="090E17"/>
                </a:solidFill>
                <a:latin typeface="Inter"/>
              </a:rPr>
              <a:t>ChromaDB &amp; all-MiniLM-L12-v2</a:t>
            </a:r>
            <a:r>
              <a:rPr b="0" sz="1200" i="0" u="none">
                <a:solidFill>
                  <a:srgbClr val="1E293B"/>
                </a:solidFill>
                <a:latin typeface="Inter Medium"/>
              </a:rPr>
              <a:t> (Vector Embeddings), </a:t>
            </a:r>
            <a:r>
              <a:rPr b="1" sz="1200" i="0" u="none">
                <a:solidFill>
                  <a:srgbClr val="090E17"/>
                </a:solidFill>
                <a:latin typeface="Inter"/>
              </a:rPr>
              <a:t>FastAPI</a:t>
            </a:r>
            <a:r>
              <a:rPr b="0" sz="1200" i="0" u="none">
                <a:solidFill>
                  <a:srgbClr val="1E293B"/>
                </a:solidFill>
                <a:latin typeface="Inter Medium"/>
              </a:rPr>
              <a:t> backend, and </a:t>
            </a:r>
            <a:r>
              <a:rPr b="1" sz="1200" i="0" u="none">
                <a:solidFill>
                  <a:srgbClr val="090E17"/>
                </a:solidFill>
                <a:latin typeface="Inter"/>
              </a:rPr>
              <a:t>Gemini/Groq LLMs</a:t>
            </a:r>
            <a:r>
              <a:rPr b="0" sz="1200" i="0" u="none">
                <a:solidFill>
                  <a:srgbClr val="1E293B"/>
                </a:solidFill>
                <a:latin typeface="Inter Medium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3875" y="2803773"/>
            <a:ext cx="6378326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3875" y="1889075"/>
            <a:ext cx="6378326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3875" y="1889075"/>
            <a:ext cx="47625" cy="92422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92676" y="1889075"/>
            <a:ext cx="9525" cy="92422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3875" y="2937123"/>
            <a:ext cx="6378326" cy="924222"/>
          </a:xfrm>
          <a:prstGeom prst="roundRect">
            <a:avLst>
              <a:gd name="adj" fmla="val 8244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5325" y="3051423"/>
            <a:ext cx="6035426" cy="6956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90E17"/>
                </a:solidFill>
                <a:latin typeface="Inter ExtraBold"/>
              </a:rPr>
              <a:t>Query &amp; Pre-RAG Ingestion</a:t>
            </a:r>
            <a:r>
              <a:rPr b="0" sz="1200" i="0" u="none">
                <a:solidFill>
                  <a:srgbClr val="000000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1E293B"/>
                </a:solidFill>
                <a:latin typeface="Inter Medium"/>
              </a:rPr>
              <a:t>Dual voice/text query ingestion across </a:t>
            </a:r>
            <a:r>
              <a:rPr b="1" sz="1200" i="0" u="none">
                <a:solidFill>
                  <a:srgbClr val="090E17"/>
                </a:solidFill>
                <a:latin typeface="Inter"/>
              </a:rPr>
              <a:t>9+ Indian languages</a:t>
            </a:r>
            <a:r>
              <a:rPr b="0" sz="1200" i="0" u="none">
                <a:solidFill>
                  <a:srgbClr val="1E293B"/>
                </a:solidFill>
                <a:latin typeface="Inter Medium"/>
              </a:rPr>
              <a:t> with smart language detection and active </a:t>
            </a:r>
            <a:r>
              <a:rPr b="1" sz="1200" i="0" u="none">
                <a:solidFill>
                  <a:srgbClr val="090E17"/>
                </a:solidFill>
                <a:latin typeface="Inter"/>
              </a:rPr>
              <a:t>India vs. International jurisdiction routing</a:t>
            </a:r>
            <a:r>
              <a:rPr b="0" sz="1200" i="0" u="none">
                <a:solidFill>
                  <a:srgbClr val="1E293B"/>
                </a:solidFill>
                <a:latin typeface="Inter Medium"/>
              </a:rPr>
              <a:t>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3875" y="3851820"/>
            <a:ext cx="6378326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3875" y="2937123"/>
            <a:ext cx="6378326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3875" y="2937123"/>
            <a:ext cx="47625" cy="92422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92676" y="2937123"/>
            <a:ext cx="9525" cy="92422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23875" y="3985170"/>
            <a:ext cx="6378326" cy="924222"/>
          </a:xfrm>
          <a:prstGeom prst="roundRect">
            <a:avLst>
              <a:gd name="adj" fmla="val 8244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5325" y="4099470"/>
            <a:ext cx="6035426" cy="6956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90E17"/>
                </a:solidFill>
                <a:latin typeface="Inter ExtraBold"/>
              </a:rPr>
              <a:t>Hybrid Retrieval Engine</a:t>
            </a:r>
            <a:r>
              <a:rPr b="0" sz="1200" i="0" u="none">
                <a:solidFill>
                  <a:srgbClr val="000000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1E293B"/>
                </a:solidFill>
                <a:latin typeface="Inter Medium"/>
              </a:rPr>
              <a:t>Dense semantic vector search blended with </a:t>
            </a:r>
            <a:r>
              <a:rPr b="1" sz="1200" i="0" u="none">
                <a:solidFill>
                  <a:srgbClr val="090E17"/>
                </a:solidFill>
                <a:latin typeface="Inter"/>
              </a:rPr>
              <a:t>BM25 lexical keyword matching</a:t>
            </a:r>
            <a:r>
              <a:rPr b="0" sz="1200" i="0" u="none">
                <a:solidFill>
                  <a:srgbClr val="1E293B"/>
                </a:solidFill>
                <a:latin typeface="Inter Medium"/>
              </a:rPr>
              <a:t>, merged via </a:t>
            </a:r>
            <a:r>
              <a:rPr b="1" sz="1200" i="0" u="none">
                <a:solidFill>
                  <a:srgbClr val="090E17"/>
                </a:solidFill>
                <a:latin typeface="Inter"/>
              </a:rPr>
              <a:t>Reciprocal Rank Fusion (RRF)</a:t>
            </a:r>
            <a:r>
              <a:rPr b="0" sz="1200" i="0" u="none">
                <a:solidFill>
                  <a:srgbClr val="1E293B"/>
                </a:solidFill>
                <a:latin typeface="Inter Medium"/>
              </a:rPr>
              <a:t> over curated government statutes.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3875" y="4899868"/>
            <a:ext cx="6378326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23875" y="3985170"/>
            <a:ext cx="6378326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3875" y="3985170"/>
            <a:ext cx="47625" cy="92422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92676" y="3985170"/>
            <a:ext cx="9525" cy="92422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23875" y="5033218"/>
            <a:ext cx="6378326" cy="924222"/>
          </a:xfrm>
          <a:prstGeom prst="roundRect">
            <a:avLst>
              <a:gd name="adj" fmla="val 8244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5325" y="5147518"/>
            <a:ext cx="6035426" cy="6956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90E17"/>
                </a:solidFill>
                <a:latin typeface="Inter ExtraBold"/>
              </a:rPr>
              <a:t>Grounded Generation &amp; Guardrails</a:t>
            </a:r>
            <a:r>
              <a:rPr b="0" sz="1200" i="0" u="none">
                <a:solidFill>
                  <a:srgbClr val="000000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1E293B"/>
                </a:solidFill>
                <a:latin typeface="Inter Medium"/>
              </a:rPr>
              <a:t>Mandatory statute/section citations, confidence scoring, </a:t>
            </a:r>
            <a:r>
              <a:rPr b="1" sz="1200" i="0" u="none">
                <a:solidFill>
                  <a:srgbClr val="090E17"/>
                </a:solidFill>
                <a:latin typeface="Inter"/>
              </a:rPr>
              <a:t>safe abstention on ambiguity</a:t>
            </a:r>
            <a:r>
              <a:rPr b="0" sz="1200" i="0" u="none">
                <a:solidFill>
                  <a:srgbClr val="1E293B"/>
                </a:solidFill>
                <a:latin typeface="Inter Medium"/>
              </a:rPr>
              <a:t>, and DPDP-compliant verifiable audit logs.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3875" y="5947916"/>
            <a:ext cx="6378326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3875" y="5033218"/>
            <a:ext cx="6378326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3875" y="5033218"/>
            <a:ext cx="47625" cy="92422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92676" y="5033218"/>
            <a:ext cx="9525" cy="92422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40351" y="1718220"/>
            <a:ext cx="4222849" cy="4410075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523875" y="2803773"/>
            <a:ext cx="6378326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23875" y="3851820"/>
            <a:ext cx="6378326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23875" y="4899868"/>
            <a:ext cx="6378326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23875" y="5947916"/>
            <a:ext cx="6378326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7225" y="904875"/>
            <a:ext cx="11534775" cy="350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b="0" sz="2400" i="0" u="none">
                <a:solidFill>
                  <a:srgbClr val="090E17"/>
                </a:solidFill>
                <a:latin typeface="Poppins ExtraBold"/>
              </a:rPr>
              <a:t>TECHNICAL APPROACH: 5-Stage RAG Pipeline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3875" y="904875"/>
            <a:ext cx="57150" cy="35049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962400" y="345281"/>
            <a:ext cx="4267200" cy="33337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6950" y="190500"/>
            <a:ext cx="1828800" cy="314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445865"/>
            <a:ext cx="5476875" cy="166508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1445865"/>
            <a:ext cx="5476875" cy="166508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3301454"/>
            <a:ext cx="5476875" cy="1460748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0" y="3301454"/>
            <a:ext cx="5476875" cy="1460748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723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6496050"/>
            <a:ext cx="12192000" cy="3619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6250" y="6605587"/>
            <a:ext cx="20002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Inter SemiBold"/>
              </a:rPr>
              <a:t>@SIH Idea submission - Template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7925" y="6605587"/>
            <a:ext cx="4286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EA580C"/>
                </a:solidFill>
                <a:latin typeface="Inter ExtraBold"/>
              </a:rPr>
              <a:t>Slide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67975" y="6605587"/>
            <a:ext cx="12477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Inter SemiBold"/>
              </a:rPr>
              <a:t>Team: VedaVanguard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250" y="90487"/>
            <a:ext cx="771525" cy="5143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00175" y="185737"/>
            <a:ext cx="3619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725" i="0" u="none">
                <a:solidFill>
                  <a:srgbClr val="0F172A"/>
                </a:solidFill>
                <a:latin typeface="Poppins ExtraBold"/>
              </a:rPr>
              <a:t>SMART INDIA HACKATHON </a:t>
            </a:r>
            <a:r>
              <a:rPr b="0" sz="1725" i="0" u="none">
                <a:solidFill>
                  <a:srgbClr val="EA580C"/>
                </a:solidFill>
                <a:latin typeface="Poppins ExtraBold"/>
              </a:rPr>
              <a:t>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2074515"/>
            <a:ext cx="5000625" cy="8173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b="0" sz="1087" i="0" u="none">
                <a:solidFill>
                  <a:srgbClr val="1E293B"/>
                </a:solidFill>
                <a:latin typeface="Inter Medium"/>
              </a:rPr>
              <a:t>Built entirely on mature, proven open-source technologies (</a:t>
            </a:r>
            <a:r>
              <a:rPr b="1" sz="1087" i="0" u="none">
                <a:solidFill>
                  <a:srgbClr val="090E17"/>
                </a:solidFill>
                <a:latin typeface="Inter"/>
              </a:rPr>
              <a:t>FastAPI, ChromaDB, HuggingFace Sentence-Transformers, Groq/Gemini</a:t>
            </a:r>
            <a:r>
              <a:rPr b="0" sz="1087" i="0" u="none">
                <a:solidFill>
                  <a:srgbClr val="1E293B"/>
                </a:solidFill>
                <a:latin typeface="Inter Medium"/>
              </a:rPr>
              <a:t>). Working functional MVP is already developed, enabling full production rollout within </a:t>
            </a:r>
            <a:r>
              <a:rPr b="1" sz="1087" i="0" u="none">
                <a:solidFill>
                  <a:srgbClr val="090E17"/>
                </a:solidFill>
                <a:latin typeface="Inter"/>
              </a:rPr>
              <a:t>6 to 8 weeks</a:t>
            </a:r>
            <a:r>
              <a:rPr b="0" sz="1087" i="0" u="none">
                <a:solidFill>
                  <a:srgbClr val="1E293B"/>
                </a:solidFill>
                <a:latin typeface="Inter Medium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2074515"/>
            <a:ext cx="5000625" cy="8173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b="0" sz="1087" i="0" u="none">
                <a:solidFill>
                  <a:srgbClr val="1E293B"/>
                </a:solidFill>
                <a:latin typeface="Inter Medium"/>
              </a:rPr>
              <a:t>CPU-optimized lightweight embeddings (</a:t>
            </a:r>
            <a:r>
              <a:rPr b="1" sz="1087" i="0" u="none">
                <a:solidFill>
                  <a:srgbClr val="090E17"/>
                </a:solidFill>
                <a:latin typeface="Inter"/>
              </a:rPr>
              <a:t>~$30/month cloud run</a:t>
            </a:r>
            <a:r>
              <a:rPr b="0" sz="1087" i="0" u="none">
                <a:solidFill>
                  <a:srgbClr val="1E293B"/>
                </a:solidFill>
                <a:latin typeface="Inter Medium"/>
              </a:rPr>
              <a:t> on standard serverless instances). Requires </a:t>
            </a:r>
            <a:r>
              <a:rPr b="1" sz="1087" i="0" u="none">
                <a:solidFill>
                  <a:srgbClr val="090E17"/>
                </a:solidFill>
                <a:latin typeface="Inter"/>
              </a:rPr>
              <a:t>zero dedicated GPU clusters</a:t>
            </a:r>
            <a:r>
              <a:rPr b="0" sz="1087" i="0" u="none">
                <a:solidFill>
                  <a:srgbClr val="1E293B"/>
                </a:solidFill>
                <a:latin typeface="Inter Medium"/>
              </a:rPr>
              <a:t>, keeping ongoing maintenance exceptionally economical for widespread public deployment.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3930104"/>
            <a:ext cx="5000625" cy="6130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b="0" sz="1087" i="0" u="none">
                <a:solidFill>
                  <a:srgbClr val="1E293B"/>
                </a:solidFill>
                <a:latin typeface="Inter Medium"/>
              </a:rPr>
              <a:t>Complex legal interpretation risks and </a:t>
            </a:r>
            <a:r>
              <a:rPr b="1" sz="1087" i="0" u="none">
                <a:solidFill>
                  <a:srgbClr val="090E17"/>
                </a:solidFill>
                <a:latin typeface="Inter"/>
              </a:rPr>
              <a:t>LLM hallucination</a:t>
            </a:r>
            <a:r>
              <a:rPr b="0" sz="1087" i="0" u="none">
                <a:solidFill>
                  <a:srgbClr val="1E293B"/>
                </a:solidFill>
                <a:latin typeface="Inter Medium"/>
              </a:rPr>
              <a:t> on sensitive statutory inquiries, alongside potential conflation between domestic Indian biodiversity acts and foreign patent frameworks.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375" y="3930104"/>
            <a:ext cx="5000625" cy="6130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9"/>
              </a:lnSpc>
            </a:pPr>
            <a:r>
              <a:rPr b="0" sz="1087" i="0" u="none">
                <a:solidFill>
                  <a:srgbClr val="1E293B"/>
                </a:solidFill>
                <a:latin typeface="Inter Medium"/>
              </a:rPr>
              <a:t>Strict architectural </a:t>
            </a:r>
            <a:r>
              <a:rPr b="1" sz="1087" i="0" u="none">
                <a:solidFill>
                  <a:srgbClr val="090E17"/>
                </a:solidFill>
                <a:latin typeface="Inter"/>
              </a:rPr>
              <a:t>Jurisdiction Isolation</a:t>
            </a:r>
            <a:r>
              <a:rPr b="0" sz="1087" i="0" u="none">
                <a:solidFill>
                  <a:srgbClr val="1E293B"/>
                </a:solidFill>
                <a:latin typeface="Inter Medium"/>
              </a:rPr>
              <a:t> separating domestic acts from international treaties, accompanied by </a:t>
            </a:r>
            <a:r>
              <a:rPr b="1" sz="1087" i="0" u="none">
                <a:solidFill>
                  <a:srgbClr val="090E17"/>
                </a:solidFill>
                <a:latin typeface="Inter"/>
              </a:rPr>
              <a:t>hard prompt guardrails</a:t>
            </a:r>
            <a:r>
              <a:rPr b="0" sz="1087" i="0" u="none">
                <a:solidFill>
                  <a:srgbClr val="1E293B"/>
                </a:solidFill>
                <a:latin typeface="Inter Medium"/>
              </a:rPr>
              <a:t> that enforce mandatory legal citations and automated fallback abstention.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1726852"/>
            <a:ext cx="228600" cy="228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04900" y="1703040"/>
            <a:ext cx="1900237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090E17"/>
                </a:solidFill>
                <a:latin typeface="Poppins ExtraBold"/>
              </a:rPr>
              <a:t>Zero Research Risk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29375" y="1726852"/>
            <a:ext cx="228600" cy="2286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772275" y="1703040"/>
            <a:ext cx="308038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090E17"/>
                </a:solidFill>
                <a:latin typeface="Poppins ExtraBold"/>
              </a:rPr>
              <a:t>Ultra-Low Infrastructure Cost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00" y="3582441"/>
            <a:ext cx="228600" cy="228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04900" y="3558629"/>
            <a:ext cx="290036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090E17"/>
                </a:solidFill>
                <a:latin typeface="Poppins ExtraBold"/>
              </a:rPr>
              <a:t>Potential Challenges &amp; Risks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29375" y="3582441"/>
            <a:ext cx="228600" cy="2286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772275" y="3558629"/>
            <a:ext cx="314039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090E17"/>
                </a:solidFill>
                <a:latin typeface="Poppins ExtraBold"/>
              </a:rPr>
              <a:t>Mitigation &amp; Legal Safeguards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7225" y="904875"/>
            <a:ext cx="11534775" cy="350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b="0" sz="2400" i="0" u="none">
                <a:solidFill>
                  <a:srgbClr val="090E17"/>
                </a:solidFill>
                <a:latin typeface="Poppins ExtraBold"/>
              </a:rPr>
              <a:t>FEASIBILITY AND VIABILITY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3875" y="904875"/>
            <a:ext cx="57150" cy="35049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62400" y="345281"/>
            <a:ext cx="4267200" cy="33337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6950" y="190500"/>
            <a:ext cx="1828800" cy="314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445865"/>
            <a:ext cx="3575000" cy="282579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8425" y="1445865"/>
            <a:ext cx="3575000" cy="282579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975" y="1445865"/>
            <a:ext cx="3575149" cy="2825799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723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6496050"/>
            <a:ext cx="12192000" cy="361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6250" y="6605587"/>
            <a:ext cx="20002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Inter SemiBold"/>
              </a:rPr>
              <a:t>@SIH Idea submission -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2687" y="6605587"/>
            <a:ext cx="419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EA580C"/>
                </a:solidFill>
                <a:latin typeface="Inter ExtraBold"/>
              </a:rPr>
              <a:t>Slide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67975" y="6605587"/>
            <a:ext cx="12477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Inter SemiBold"/>
              </a:rPr>
              <a:t>Team: VedaVanguard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250" y="90487"/>
            <a:ext cx="771525" cy="514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00175" y="185737"/>
            <a:ext cx="3619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725" i="0" u="none">
                <a:solidFill>
                  <a:srgbClr val="0F172A"/>
                </a:solidFill>
                <a:latin typeface="Poppins ExtraBold"/>
              </a:rPr>
              <a:t>SMART INDIA HACKATHON </a:t>
            </a:r>
            <a:r>
              <a:rPr b="0" sz="1725" i="0" u="none">
                <a:solidFill>
                  <a:srgbClr val="EA580C"/>
                </a:solidFill>
                <a:latin typeface="Poppins ExtraBold"/>
              </a:rPr>
              <a:t>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7275" y="1703040"/>
            <a:ext cx="2983654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90E17"/>
                </a:solidFill>
                <a:latin typeface="Poppins ExtraBold"/>
              </a:rPr>
              <a:t>Social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2122140"/>
            <a:ext cx="3174950" cy="5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090E17"/>
                </a:solidFill>
                <a:latin typeface="Inter"/>
              </a:rPr>
              <a:t>Democratizing Legal Access:</a:t>
            </a:r>
            <a:r>
              <a:rPr b="0" sz="1050" i="0" u="none">
                <a:solidFill>
                  <a:srgbClr val="1E293B"/>
                </a:solidFill>
                <a:latin typeface="Inter Medium"/>
              </a:rPr>
              <a:t> Bridges linguistic divide across 9 Indian regional languages for traditional vaidyas and folk healers.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2797373"/>
            <a:ext cx="3174950" cy="773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090E17"/>
                </a:solidFill>
                <a:latin typeface="Inter"/>
              </a:rPr>
              <a:t>Sovereign Biopiracy Shield:</a:t>
            </a:r>
            <a:r>
              <a:rPr b="0" sz="1050" i="0" u="none">
                <a:solidFill>
                  <a:srgbClr val="1E293B"/>
                </a:solidFill>
                <a:latin typeface="Inter Medium"/>
              </a:rPr>
              <a:t> Protects indigenous knowledge holders from unauthorized commercial exploitation and foreign patent poaching.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900" y="3665934"/>
            <a:ext cx="3174950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090E17"/>
                </a:solidFill>
                <a:latin typeface="Inter"/>
              </a:rPr>
              <a:t>Grassroots Literacy:</a:t>
            </a:r>
            <a:r>
              <a:rPr b="0" sz="1050" i="0" u="none">
                <a:solidFill>
                  <a:srgbClr val="1E293B"/>
                </a:solidFill>
                <a:latin typeface="Inter Medium"/>
              </a:rPr>
              <a:t> Cultivates widespread IPR awareness across </a:t>
            </a:r>
            <a:r>
              <a:rPr b="1" sz="1050" i="0" u="none">
                <a:solidFill>
                  <a:srgbClr val="090E17"/>
                </a:solidFill>
                <a:latin typeface="Inter"/>
              </a:rPr>
              <a:t>50,000+ AYUSH MSMEs</a:t>
            </a:r>
            <a:r>
              <a:rPr b="0" sz="1050" i="0" u="none">
                <a:solidFill>
                  <a:srgbClr val="1E293B"/>
                </a:solidFill>
                <a:latin typeface="Inter Medium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4200" y="1703040"/>
            <a:ext cx="303366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90E17"/>
                </a:solidFill>
                <a:latin typeface="Poppins ExtraBold"/>
              </a:rPr>
              <a:t>Economic Benefits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8450" y="2122140"/>
            <a:ext cx="3174950" cy="5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090E17"/>
                </a:solidFill>
                <a:latin typeface="Inter"/>
              </a:rPr>
              <a:t>Slashes Filing Costs:</a:t>
            </a:r>
            <a:r>
              <a:rPr b="0" sz="1050" i="0" u="none">
                <a:solidFill>
                  <a:srgbClr val="1E293B"/>
                </a:solidFill>
                <a:latin typeface="Inter Medium"/>
              </a:rPr>
              <a:t> Eliminates steep preliminary attorney consultation fees for early-stage herbal formulations and innovations.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8450" y="2797373"/>
            <a:ext cx="3174950" cy="5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090E17"/>
                </a:solidFill>
                <a:latin typeface="Inter"/>
              </a:rPr>
              <a:t>Prevents Costly Litigation:</a:t>
            </a:r>
            <a:r>
              <a:rPr b="0" sz="1050" i="0" u="none">
                <a:solidFill>
                  <a:srgbClr val="1E293B"/>
                </a:solidFill>
                <a:latin typeface="Inter Medium"/>
              </a:rPr>
              <a:t> Pre-empts international opposition proceedings by verifying Section 3(p) prior art upfront.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450" y="3472606"/>
            <a:ext cx="3174950" cy="5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090E17"/>
                </a:solidFill>
                <a:latin typeface="Inter"/>
              </a:rPr>
              <a:t>Export Acceleration:</a:t>
            </a:r>
            <a:r>
              <a:rPr b="0" sz="1050" i="0" u="none">
                <a:solidFill>
                  <a:srgbClr val="1E293B"/>
                </a:solidFill>
                <a:latin typeface="Inter Medium"/>
              </a:rPr>
              <a:t> Fast-tracks commercial clearances under Nagoya Protocol and Access and Benefit Sharing (ABS) mandates.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8750" y="1703040"/>
            <a:ext cx="3033816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90E17"/>
                </a:solidFill>
                <a:latin typeface="Poppins ExtraBold"/>
              </a:rPr>
              <a:t>Environmental 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000" y="2122140"/>
            <a:ext cx="3175099" cy="5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090E17"/>
                </a:solidFill>
                <a:latin typeface="Inter"/>
              </a:rPr>
              <a:t>Sustainable Bio-Sourcing:</a:t>
            </a:r>
            <a:r>
              <a:rPr b="0" sz="1050" i="0" u="none">
                <a:solidFill>
                  <a:srgbClr val="1E293B"/>
                </a:solidFill>
                <a:latin typeface="Inter Medium"/>
              </a:rPr>
              <a:t> Embeds Biological Diversity Act (BDA 2002) compliance directly into raw herb procurement workflows.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000" y="2797373"/>
            <a:ext cx="3175099" cy="5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090E17"/>
                </a:solidFill>
                <a:latin typeface="Inter"/>
              </a:rPr>
              <a:t>Traceable ABS Fair Share:</a:t>
            </a:r>
            <a:r>
              <a:rPr b="0" sz="1050" i="0" u="none">
                <a:solidFill>
                  <a:srgbClr val="1E293B"/>
                </a:solidFill>
                <a:latin typeface="Inter Medium"/>
              </a:rPr>
              <a:t> Automates compliance records for benefit sharing with local Biodiversity Management Committees (BMCs).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000" y="3472606"/>
            <a:ext cx="3175099" cy="5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090E17"/>
                </a:solidFill>
                <a:latin typeface="Inter"/>
              </a:rPr>
              <a:t>Conservation Auditing:</a:t>
            </a:r>
            <a:r>
              <a:rPr b="0" sz="1050" i="0" u="none">
                <a:solidFill>
                  <a:srgbClr val="1E293B"/>
                </a:solidFill>
                <a:latin typeface="Inter Medium"/>
              </a:rPr>
              <a:t> Promotes fair ecological trade and conservation of endangered medicinal species.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1750665"/>
            <a:ext cx="238125" cy="1905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08450" y="1750665"/>
            <a:ext cx="190500" cy="1905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93000" y="1750665"/>
            <a:ext cx="190500" cy="1905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57225" y="904875"/>
            <a:ext cx="11534775" cy="350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b="0" sz="2400" i="0" u="none">
                <a:solidFill>
                  <a:srgbClr val="090E17"/>
                </a:solidFill>
                <a:latin typeface="Poppins ExtraBold"/>
              </a:rPr>
              <a:t>IMPACT AND BENEFITS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3875" y="904875"/>
            <a:ext cx="57150" cy="35049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962400" y="345281"/>
            <a:ext cx="4267200" cy="33337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6950" y="190500"/>
            <a:ext cx="1828800" cy="314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23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496050"/>
            <a:ext cx="12192000" cy="361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6250" y="6605587"/>
            <a:ext cx="20002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Inter SemiBold"/>
              </a:rPr>
              <a:t>@SIH Idea submission 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2687" y="6605587"/>
            <a:ext cx="419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EA580C"/>
                </a:solidFill>
                <a:latin typeface="Inter ExtraBold"/>
              </a:rPr>
              <a:t>Slide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7975" y="6605587"/>
            <a:ext cx="12477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Inter SemiBold"/>
              </a:rPr>
              <a:t>Team: VedaVanguard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90487"/>
            <a:ext cx="771525" cy="514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00175" y="185737"/>
            <a:ext cx="3619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725" i="0" u="none">
                <a:solidFill>
                  <a:srgbClr val="0F172A"/>
                </a:solidFill>
                <a:latin typeface="Poppins ExtraBold"/>
              </a:rPr>
              <a:t>SMART INDIA HACKATHON </a:t>
            </a:r>
            <a:r>
              <a:rPr b="0" sz="1725" i="0" u="none">
                <a:solidFill>
                  <a:srgbClr val="EA580C"/>
                </a:solidFill>
                <a:latin typeface="Poppins ExtraBold"/>
              </a:rPr>
              <a:t>2026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636365"/>
            <a:ext cx="28575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5562" y="1636365"/>
            <a:ext cx="22860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744241"/>
            <a:ext cx="200025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5562" y="2744241"/>
            <a:ext cx="228600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3852118"/>
            <a:ext cx="22860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5562" y="3852118"/>
            <a:ext cx="171450" cy="228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00150" y="1607790"/>
            <a:ext cx="4855606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90E17"/>
                </a:solidFill>
                <a:latin typeface="Poppins ExtraBold"/>
              </a:rPr>
              <a:t>The Patents Act, 1970 (Section 3(p))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0150" y="1884015"/>
            <a:ext cx="4624387" cy="3649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b="0" sz="1012" i="0" u="none">
                <a:solidFill>
                  <a:srgbClr val="1E293B"/>
                </a:solidFill>
                <a:latin typeface="Inter Medium"/>
              </a:rPr>
              <a:t>Statutory exclusions prohibiting patents on traditional knowledge, non-patentable subject matter, and aggregation of known properties.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6562" y="1607790"/>
            <a:ext cx="4915614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90E17"/>
                </a:solidFill>
                <a:latin typeface="Poppins ExtraBold"/>
              </a:rPr>
              <a:t>The Biological Diversity Act, 2002 &amp; ABS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6562" y="1884015"/>
            <a:ext cx="4681537" cy="3649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b="0" sz="1012" i="0" u="none">
                <a:solidFill>
                  <a:srgbClr val="1E293B"/>
                </a:solidFill>
                <a:latin typeface="Inter Medium"/>
              </a:rPr>
              <a:t>National Biodiversity Authority (NBA) guidelines on Prior Informed Consent (PIC), Mutually Agreed Terms (MAT), and benefit-sharing mechanisms.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4425" y="2715666"/>
            <a:ext cx="4945618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90E17"/>
                </a:solidFill>
                <a:latin typeface="Poppins ExtraBold"/>
              </a:rPr>
              <a:t>Traditional Knowledge Digital Library (TKDL)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4425" y="2991891"/>
            <a:ext cx="4710112" cy="3649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b="0" sz="1012" i="0" u="none">
                <a:solidFill>
                  <a:srgbClr val="1E293B"/>
                </a:solidFill>
                <a:latin typeface="Inter Medium"/>
              </a:rPr>
              <a:t>Pioneering Indian database mapping classical Ayurvedic formulations (Charaka, Sushruta Samhitas) to international patent classification.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6562" y="2715666"/>
            <a:ext cx="4915614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90E17"/>
                </a:solidFill>
                <a:latin typeface="Poppins ExtraBold"/>
              </a:rPr>
              <a:t>TRIPS Agreement &amp; The Nagoya Protocol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6562" y="2991891"/>
            <a:ext cx="4681537" cy="3649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b="0" sz="1012" i="0" u="none">
                <a:solidFill>
                  <a:srgbClr val="1E293B"/>
                </a:solidFill>
                <a:latin typeface="Inter Medium"/>
              </a:rPr>
              <a:t>International legal frameworks on access to genetic resources, cross-border biopiracy prevention, and equitable benefit-sharing.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823543"/>
            <a:ext cx="4915614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90E17"/>
                </a:solidFill>
                <a:latin typeface="Poppins ExtraBold"/>
              </a:rPr>
              <a:t>WIPO GRATK Treaty (2024 Updates)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099768"/>
            <a:ext cx="4681537" cy="3649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b="0" sz="1012" i="0" u="none">
                <a:solidFill>
                  <a:srgbClr val="1E293B"/>
                </a:solidFill>
                <a:latin typeface="Inter Medium"/>
              </a:rPr>
              <a:t>World Intellectual Property Organization treaty mandating disclosure of origin for genetic resources and associated traditional knowledge.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9412" y="3823543"/>
            <a:ext cx="4975621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90E17"/>
                </a:solidFill>
                <a:latin typeface="Poppins ExtraBold"/>
              </a:rPr>
              <a:t>Ayurvedic Pharmacopoeia of India (API)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9412" y="4099768"/>
            <a:ext cx="4738687" cy="3649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b="0" sz="1012" i="0" u="none">
                <a:solidFill>
                  <a:srgbClr val="1E293B"/>
                </a:solidFill>
                <a:latin typeface="Inter Medium"/>
              </a:rPr>
              <a:t>Official pharmacopoeial monographs, classical drug standardizations, and permissible regulatory classification pathways.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225" y="904875"/>
            <a:ext cx="11534775" cy="350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b="0" sz="2400" i="0" u="none">
                <a:solidFill>
                  <a:srgbClr val="090E17"/>
                </a:solidFill>
                <a:latin typeface="Poppins ExtraBold"/>
              </a:rPr>
              <a:t>RESEARCH AND REFERENCES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3875" y="904875"/>
            <a:ext cx="57150" cy="35049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962400" y="345281"/>
            <a:ext cx="4267200" cy="33337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